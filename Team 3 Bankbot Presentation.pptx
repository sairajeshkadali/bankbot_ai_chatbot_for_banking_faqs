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3" r:id="rId8"/>
    <p:sldId id="262" r:id="rId9"/>
    <p:sldId id="265" r:id="rId10"/>
    <p:sldId id="264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0" d="100"/>
          <a:sy n="50" d="100"/>
        </p:scale>
        <p:origin x="51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4049" y="4004944"/>
            <a:ext cx="535749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0925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0925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0925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3598525" y="2401357"/>
            <a:ext cx="3742690" cy="6089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6F6F6F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0925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1528444"/>
            <a:ext cx="920877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0925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00" y="0"/>
              <a:ext cx="89915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76274"/>
              <a:ext cx="9296400" cy="0"/>
            </a:xfrm>
            <a:custGeom>
              <a:avLst/>
              <a:gdLst/>
              <a:ahLst/>
              <a:cxnLst/>
              <a:rect l="l" t="t" r="r" b="b"/>
              <a:pathLst>
                <a:path w="9296400">
                  <a:moveTo>
                    <a:pt x="0" y="0"/>
                  </a:moveTo>
                  <a:lnTo>
                    <a:pt x="9296399" y="0"/>
                  </a:lnTo>
                </a:path>
              </a:pathLst>
            </a:custGeom>
            <a:ln w="19049">
              <a:solidFill>
                <a:srgbClr val="0925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50" y="1235075"/>
            <a:ext cx="7745095" cy="11324590"/>
          </a:xfrm>
          <a:prstGeom prst="rect">
            <a:avLst/>
          </a:prstGeom>
        </p:spPr>
        <p:txBody>
          <a:bodyPr vert="horz" wrap="square" lIns="0" tIns="309880" rIns="0" bIns="0" rtlCol="0">
            <a:noAutofit/>
          </a:bodyPr>
          <a:lstStyle/>
          <a:p>
            <a:pPr marL="12700" marR="5080">
              <a:lnSpc>
                <a:spcPts val="11700"/>
              </a:lnSpc>
              <a:spcBef>
                <a:spcPts val="2440"/>
              </a:spcBef>
            </a:pPr>
            <a:r>
              <a:rPr lang="en-US" altLang="en-US" sz="11700" spc="-1165" dirty="0">
                <a:solidFill>
                  <a:srgbClr val="092540"/>
                </a:solidFill>
                <a:latin typeface="Cambria"/>
                <a:cs typeface="Cambria"/>
              </a:rPr>
              <a:t>BankBot AI Chatbot for Banking FAQs</a:t>
            </a:r>
            <a:r>
              <a:rPr sz="11700" spc="-1165" dirty="0">
                <a:solidFill>
                  <a:srgbClr val="092540"/>
                </a:solidFill>
                <a:latin typeface="Cambria"/>
                <a:cs typeface="Cambria"/>
              </a:rPr>
              <a:t> </a:t>
            </a:r>
            <a:endParaRPr sz="1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10"/>
              </a:spcBef>
            </a:pPr>
            <a:endParaRPr sz="2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54050" y="1423670"/>
            <a:ext cx="6495415" cy="15386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7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815" y="3422650"/>
            <a:ext cx="16480790" cy="57111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Customers often have recurring banking queries related to account balance, interest rates, loan eligibility, transaction status, branch details, etc.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endParaRPr lang="en-US" altLang="en-US" sz="2800">
              <a:latin typeface="Trebuchet MS" panose="020B0603020202020204" charset="0"/>
              <a:cs typeface="Trebuchet MS" panose="020B0603020202020204" charset="0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Relying on manual customer service teams leads to delays and high operational costs.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endParaRPr lang="en-US" altLang="en-US" sz="2800">
              <a:latin typeface="Trebuchet MS" panose="020B0603020202020204" charset="0"/>
              <a:cs typeface="Trebuchet MS" panose="020B0603020202020204" charset="0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This project aims to build an intelligent chatbot that can handle these questions through natural conversations.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endParaRPr lang="en-US" altLang="en-US" sz="2800">
              <a:latin typeface="Trebuchet MS" panose="020B0603020202020204" charset="0"/>
              <a:cs typeface="Trebuchet MS" panose="020B0603020202020204" charset="0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It will support both rule-based and machine learning approaches to ensure accuracy and scalability.</a:t>
            </a:r>
          </a:p>
          <a:p>
            <a:pPr marL="12700" indent="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None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The chatbot will be accessible via a web interface and possibly integrated into mobile apps 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50" y="3032760"/>
            <a:ext cx="3601720" cy="579755"/>
          </a:xfrm>
          <a:prstGeom prst="rect">
            <a:avLst/>
          </a:prstGeom>
        </p:spPr>
        <p:txBody>
          <a:bodyPr vert="horz" wrap="square" lIns="0" tIns="1460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200" b="1" spc="-8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Define</a:t>
            </a:r>
            <a:r>
              <a:rPr sz="3200" b="1" spc="-8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Intents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50" y="3598545"/>
            <a:ext cx="3874770" cy="176974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Check Balance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Apply </a:t>
            </a: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for Loan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Block Card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 charset="0"/>
                <a:cs typeface="Trebuchet MS" panose="020B0603020202020204" charset="0"/>
              </a:rPr>
              <a:t>Transaction Status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165" y="5658485"/>
            <a:ext cx="11028680" cy="530225"/>
          </a:xfrm>
          <a:prstGeom prst="rect">
            <a:avLst/>
          </a:prstGeom>
        </p:spPr>
        <p:txBody>
          <a:bodyPr vert="horz" wrap="square" lIns="0" tIns="1460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200" b="1" spc="-5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Create</a:t>
            </a: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114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Training</a:t>
            </a: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12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Examples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5805" y="6189345"/>
            <a:ext cx="10618470" cy="155829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Multiple training examples improve chatbot learning.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Helps recognize different user inputs for each banking intent.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Increases accuracy in identifying banking-related queries.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5165" y="7838440"/>
            <a:ext cx="15930245" cy="500380"/>
          </a:xfrm>
          <a:prstGeom prst="rect">
            <a:avLst/>
          </a:prstGeom>
        </p:spPr>
        <p:txBody>
          <a:bodyPr vert="horz" wrap="square" lIns="0" tIns="1460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200" b="1" spc="-13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Build</a:t>
            </a: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15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NLU</a:t>
            </a:r>
            <a:r>
              <a:rPr sz="3200" b="1" spc="-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3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Mode</a:t>
            </a:r>
            <a:r>
              <a:rPr sz="2750" b="1" spc="-3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l</a:t>
            </a:r>
            <a:endParaRPr sz="27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805" y="8428990"/>
            <a:ext cx="10000615" cy="204597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spaCy improve accuracy.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the user’s intent</a:t>
            </a:r>
          </a:p>
          <a:p>
            <a:pPr marL="469900" marR="5080" indent="-457200">
              <a:lnSpc>
                <a:spcPct val="102000"/>
              </a:lnSpc>
              <a:spcBef>
                <a:spcPts val="95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important entities like account number, amount, card type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4050" y="1035050"/>
            <a:ext cx="15446375" cy="11582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0" dirty="0">
                <a:sym typeface="+mn-ea"/>
              </a:rPr>
              <a:t>Milestone</a:t>
            </a:r>
            <a:r>
              <a:rPr spc="-800" dirty="0">
                <a:sym typeface="+mn-ea"/>
              </a:rPr>
              <a:t> </a:t>
            </a:r>
            <a:r>
              <a:rPr spc="-975" dirty="0">
                <a:sym typeface="+mn-ea"/>
              </a:rPr>
              <a:t>1:</a:t>
            </a:r>
            <a:r>
              <a:rPr spc="-800" dirty="0">
                <a:sym typeface="+mn-ea"/>
              </a:rPr>
              <a:t> </a:t>
            </a:r>
            <a:r>
              <a:rPr spc="-840" dirty="0"/>
              <a:t>Intent</a:t>
            </a:r>
            <a:r>
              <a:rPr spc="-805" dirty="0"/>
              <a:t> </a:t>
            </a:r>
            <a:r>
              <a:rPr spc="-925" dirty="0"/>
              <a:t>Recognition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4050" y="2355850"/>
            <a:ext cx="10287000" cy="614045"/>
          </a:xfrm>
          <a:prstGeom prst="rect">
            <a:avLst/>
          </a:prstGeom>
        </p:spPr>
        <p:txBody>
          <a:bodyPr vert="horz" wrap="square" lIns="0" tIns="1460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600" b="1" spc="-9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Key</a:t>
            </a:r>
            <a:r>
              <a:rPr sz="3600" b="1" spc="-8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Steps</a:t>
            </a:r>
            <a:r>
              <a:rPr sz="3600" b="1" spc="-7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2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36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3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Understanding</a:t>
            </a:r>
            <a:r>
              <a:rPr sz="36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2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Users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 descr="ChatGPT Image Dec 8, 2025 at 08_37_12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640" y="3310890"/>
            <a:ext cx="5969635" cy="440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50" y="793115"/>
            <a:ext cx="16423005" cy="1178560"/>
          </a:xfrm>
          <a:prstGeom prst="rect">
            <a:avLst/>
          </a:prstGeom>
        </p:spPr>
        <p:txBody>
          <a:bodyPr vert="horz" wrap="square" lIns="0" tIns="256540" rIns="0" bIns="0" rtlCol="0">
            <a:noAutofit/>
          </a:bodyPr>
          <a:lstStyle/>
          <a:p>
            <a:pPr marL="12700" marR="5080">
              <a:lnSpc>
                <a:spcPts val="9600"/>
              </a:lnSpc>
              <a:spcBef>
                <a:spcPts val="2020"/>
              </a:spcBef>
            </a:pPr>
            <a:r>
              <a:rPr spc="-900" dirty="0"/>
              <a:t>Milestone</a:t>
            </a:r>
            <a:r>
              <a:rPr spc="-800" dirty="0"/>
              <a:t> </a:t>
            </a:r>
            <a:r>
              <a:rPr spc="-975" dirty="0"/>
              <a:t>1:</a:t>
            </a:r>
            <a:r>
              <a:rPr spc="-800" dirty="0"/>
              <a:t> </a:t>
            </a:r>
            <a:r>
              <a:rPr spc="-850" dirty="0"/>
              <a:t>Intent </a:t>
            </a:r>
            <a:r>
              <a:rPr spc="-925" dirty="0"/>
              <a:t>Recognition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Screenshot 2025-12-08 at 17.14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" y="2154555"/>
            <a:ext cx="14826615" cy="7285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50" y="1532255"/>
            <a:ext cx="16073755" cy="1291590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1760"/>
              </a:spcBef>
            </a:pPr>
            <a:r>
              <a:rPr sz="8300" spc="-900" dirty="0">
                <a:sym typeface="+mn-ea"/>
              </a:rPr>
              <a:t>Milestone</a:t>
            </a:r>
            <a:r>
              <a:rPr sz="8300" spc="-805" dirty="0">
                <a:sym typeface="+mn-ea"/>
              </a:rPr>
              <a:t> </a:t>
            </a:r>
            <a:r>
              <a:rPr sz="8300" spc="-1170" dirty="0">
                <a:sym typeface="+mn-ea"/>
              </a:rPr>
              <a:t>2</a:t>
            </a:r>
            <a:r>
              <a:rPr sz="8300" spc="-800" dirty="0">
                <a:sym typeface="+mn-ea"/>
              </a:rPr>
              <a:t> </a:t>
            </a:r>
            <a:r>
              <a:rPr lang="en-US" sz="8300" spc="-800" dirty="0">
                <a:sym typeface="+mn-ea"/>
              </a:rPr>
              <a:t>:</a:t>
            </a:r>
            <a:r>
              <a:rPr sz="8300" spc="-800" dirty="0">
                <a:sym typeface="+mn-ea"/>
              </a:rPr>
              <a:t> </a:t>
            </a:r>
            <a:r>
              <a:rPr sz="8300" spc="-880" dirty="0">
                <a:sym typeface="+mn-ea"/>
              </a:rPr>
              <a:t>Dialogue</a:t>
            </a:r>
            <a:r>
              <a:rPr sz="8300" spc="-800" dirty="0">
                <a:sym typeface="+mn-ea"/>
              </a:rPr>
              <a:t> </a:t>
            </a:r>
            <a:r>
              <a:rPr sz="8300" spc="-969" dirty="0">
                <a:sym typeface="+mn-ea"/>
              </a:rPr>
              <a:t>Flow</a:t>
            </a:r>
            <a:endParaRPr sz="8300"/>
          </a:p>
        </p:txBody>
      </p:sp>
      <p:sp>
        <p:nvSpPr>
          <p:cNvPr id="3" name="object 3"/>
          <p:cNvSpPr txBox="1"/>
          <p:nvPr/>
        </p:nvSpPr>
        <p:spPr>
          <a:xfrm>
            <a:off x="864870" y="3164205"/>
            <a:ext cx="1388745" cy="67246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Flow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015" y="3775710"/>
            <a:ext cx="6476365" cy="728980"/>
          </a:xfrm>
          <a:prstGeom prst="rect">
            <a:avLst/>
          </a:prstGeom>
        </p:spPr>
        <p:txBody>
          <a:bodyPr vert="horz" wrap="square" lIns="0" tIns="27939" rIns="0" bIns="0" rtlCol="0">
            <a:no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800" b="0" spc="-40" dirty="0">
                <a:solidFill>
                  <a:schemeClr val="tx1"/>
                </a:solidFill>
                <a:latin typeface="Trebuchet MS" panose="020B0603020202020204" charset="0"/>
                <a:cs typeface="Trebuchet MS" panose="020B0603020202020204" charset="0"/>
              </a:rPr>
              <a:t>Define</a:t>
            </a:r>
            <a:r>
              <a:rPr sz="2800" b="0" spc="-130" dirty="0">
                <a:solidFill>
                  <a:schemeClr val="tx1"/>
                </a:solidFill>
                <a:latin typeface="Trebuchet MS" panose="020B0603020202020204" charset="0"/>
                <a:cs typeface="Trebuchet MS" panose="020B0603020202020204" charset="0"/>
              </a:rPr>
              <a:t> </a:t>
            </a:r>
            <a:r>
              <a:rPr sz="2800" b="0" spc="-10" dirty="0">
                <a:solidFill>
                  <a:schemeClr val="tx1"/>
                </a:solidFill>
                <a:latin typeface="Trebuchet MS" panose="020B0603020202020204" charset="0"/>
                <a:cs typeface="Trebuchet MS" panose="020B0603020202020204" charset="0"/>
              </a:rPr>
              <a:t>structured </a:t>
            </a:r>
            <a:r>
              <a:rPr sz="2800" b="0" spc="-45" dirty="0">
                <a:solidFill>
                  <a:schemeClr val="tx1"/>
                </a:solidFill>
                <a:latin typeface="Trebuchet MS" panose="020B0603020202020204" charset="0"/>
                <a:cs typeface="Trebuchet MS" panose="020B0603020202020204" charset="0"/>
              </a:rPr>
              <a:t>conversation</a:t>
            </a:r>
            <a:r>
              <a:rPr sz="2800" b="0" spc="-100" dirty="0">
                <a:solidFill>
                  <a:schemeClr val="tx1"/>
                </a:solidFill>
                <a:latin typeface="Trebuchet MS" panose="020B0603020202020204" charset="0"/>
                <a:cs typeface="Trebuchet MS" panose="020B0603020202020204" charset="0"/>
              </a:rPr>
              <a:t> </a:t>
            </a:r>
            <a:r>
              <a:rPr sz="2800" b="0" spc="-35" dirty="0">
                <a:solidFill>
                  <a:schemeClr val="tx1"/>
                </a:solidFill>
                <a:latin typeface="Trebuchet MS" panose="020B0603020202020204" charset="0"/>
                <a:cs typeface="Trebuchet MS" panose="020B0603020202020204" charset="0"/>
              </a:rPr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4235" y="4437380"/>
            <a:ext cx="14182090" cy="5981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ChitChat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015" y="5077460"/>
            <a:ext cx="15155545" cy="608965"/>
          </a:xfrm>
          <a:prstGeom prst="rect">
            <a:avLst/>
          </a:prstGeom>
        </p:spPr>
        <p:txBody>
          <a:bodyPr vert="horz" wrap="square" lIns="0" tIns="27939" rIns="0" bIns="0" rtlCol="0">
            <a:no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800" spc="-2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Enable</a:t>
            </a:r>
            <a:r>
              <a:rPr sz="2800" spc="-105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45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casual</a:t>
            </a:r>
            <a:r>
              <a:rPr sz="2800" spc="-10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2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user </a:t>
            </a:r>
            <a:r>
              <a:rPr sz="2800" spc="-1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interactions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5830" y="7233920"/>
            <a:ext cx="14074775" cy="5054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2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Tracking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3290" y="7940040"/>
            <a:ext cx="16087725" cy="876300"/>
          </a:xfrm>
          <a:prstGeom prst="rect">
            <a:avLst/>
          </a:prstGeom>
        </p:spPr>
        <p:txBody>
          <a:bodyPr vert="horz" wrap="square" lIns="0" tIns="27939" rIns="0" bIns="0" rtlCol="0">
            <a:no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800" spc="-2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Maintain</a:t>
            </a:r>
            <a:r>
              <a:rPr sz="2800" spc="-11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5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dialogue</a:t>
            </a:r>
            <a:r>
              <a:rPr sz="2800" spc="-11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75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context </a:t>
            </a:r>
            <a:r>
              <a:rPr sz="2800" spc="-1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awareness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3290" y="5869940"/>
            <a:ext cx="8282305" cy="63436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9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Fallback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3290" y="6504940"/>
            <a:ext cx="10636250" cy="7296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Handle</a:t>
            </a:r>
            <a:r>
              <a:rPr sz="2800" spc="-15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4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unclear</a:t>
            </a:r>
            <a:r>
              <a:rPr sz="2800" spc="-14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2800" spc="-145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30" dirty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rPr>
              <a:t>queries</a:t>
            </a:r>
          </a:p>
        </p:txBody>
      </p:sp>
      <p:sp>
        <p:nvSpPr>
          <p:cNvPr id="11" name="object 11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 descr="ChatGPT Image Dec 8, 2025 at 08_23_13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810" y="3238500"/>
            <a:ext cx="6628130" cy="5151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50" y="1223010"/>
            <a:ext cx="17206595" cy="15582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Milestone</a:t>
            </a:r>
            <a:r>
              <a:rPr spc="-805" dirty="0"/>
              <a:t> </a:t>
            </a:r>
            <a:r>
              <a:rPr spc="-1170" dirty="0"/>
              <a:t>2</a:t>
            </a:r>
            <a:r>
              <a:rPr spc="-800" dirty="0"/>
              <a:t> </a:t>
            </a:r>
            <a:r>
              <a:rPr lang="en-US" spc="-800" dirty="0"/>
              <a:t>:</a:t>
            </a:r>
            <a:r>
              <a:rPr spc="-800" dirty="0"/>
              <a:t> </a:t>
            </a:r>
            <a:r>
              <a:rPr spc="-880" dirty="0"/>
              <a:t>Dialogue</a:t>
            </a:r>
            <a:r>
              <a:rPr spc="-800" dirty="0"/>
              <a:t> </a:t>
            </a:r>
            <a:r>
              <a:rPr spc="-969" dirty="0"/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Screenshot 2025-12-08 at 17.22.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722245"/>
            <a:ext cx="15706725" cy="6008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10" y="3603625"/>
            <a:ext cx="4848860" cy="42862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4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Develop</a:t>
            </a:r>
            <a:r>
              <a:rPr sz="3200" b="1" spc="-4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Interface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50" y="4381500"/>
            <a:ext cx="6753860" cy="2292350"/>
          </a:xfrm>
          <a:prstGeom prst="rect">
            <a:avLst/>
          </a:prstGeom>
        </p:spPr>
        <p:txBody>
          <a:bodyPr vert="horz" wrap="square" lIns="0" tIns="27939" rIns="0" bIns="0" rtlCol="0">
            <a:noAutofit/>
          </a:bodyPr>
          <a:lstStyle/>
          <a:p>
            <a:pPr marL="469900" marR="5080" indent="-457200">
              <a:lnSpc>
                <a:spcPts val="2850"/>
              </a:lnSpc>
              <a:spcBef>
                <a:spcPts val="22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Web-based chat interface enables user interaction.</a:t>
            </a:r>
          </a:p>
          <a:p>
            <a:pPr marL="469900" marR="5080" indent="-457200">
              <a:lnSpc>
                <a:spcPts val="2850"/>
              </a:lnSpc>
              <a:spcBef>
                <a:spcPts val="22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Built using frameworks like Flask or React.</a:t>
            </a:r>
          </a:p>
          <a:p>
            <a:pPr marL="469900" marR="5080" indent="-457200">
              <a:lnSpc>
                <a:spcPts val="2850"/>
              </a:lnSpc>
              <a:spcBef>
                <a:spcPts val="22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Ensures a smooth and engaging user experience.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9770" y="6869430"/>
            <a:ext cx="14878050" cy="6305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3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Connect</a:t>
            </a:r>
            <a:r>
              <a:rPr sz="3200" b="1" spc="-4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Frontend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4545" y="7750810"/>
            <a:ext cx="6958965" cy="1747520"/>
          </a:xfrm>
          <a:prstGeom prst="rect">
            <a:avLst/>
          </a:prstGeom>
        </p:spPr>
        <p:txBody>
          <a:bodyPr vert="horz" wrap="square" lIns="0" tIns="27939" rIns="0" bIns="0" rtlCol="0">
            <a:noAutofit/>
          </a:bodyPr>
          <a:lstStyle/>
          <a:p>
            <a:pPr marL="469900" marR="5080" indent="-457200">
              <a:lnSpc>
                <a:spcPts val="2850"/>
              </a:lnSpc>
              <a:spcBef>
                <a:spcPts val="22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real-time communication</a:t>
            </a:r>
          </a:p>
          <a:p>
            <a:pPr marL="469900" marR="5080" indent="-457200">
              <a:lnSpc>
                <a:spcPts val="2850"/>
              </a:lnSpc>
              <a:spcBef>
                <a:spcPts val="22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instant responses</a:t>
            </a:r>
          </a:p>
          <a:p>
            <a:pPr marL="469900" marR="5080" indent="-457200">
              <a:lnSpc>
                <a:spcPts val="2850"/>
              </a:lnSpc>
              <a:spcBef>
                <a:spcPts val="22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a clean chat experience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4050" y="1062355"/>
            <a:ext cx="16055975" cy="13315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0" dirty="0">
                <a:sym typeface="+mn-ea"/>
              </a:rPr>
              <a:t>Milestone</a:t>
            </a:r>
            <a:r>
              <a:rPr spc="-810" dirty="0">
                <a:sym typeface="+mn-ea"/>
              </a:rPr>
              <a:t> </a:t>
            </a:r>
            <a:r>
              <a:rPr spc="-1170" dirty="0">
                <a:sym typeface="+mn-ea"/>
              </a:rPr>
              <a:t>3</a:t>
            </a:r>
            <a:r>
              <a:rPr spc="-810" dirty="0">
                <a:sym typeface="+mn-ea"/>
              </a:rPr>
              <a:t> </a:t>
            </a:r>
            <a:r>
              <a:rPr lang="en-US" spc="-810" dirty="0">
                <a:sym typeface="+mn-ea"/>
              </a:rPr>
              <a:t>:</a:t>
            </a:r>
            <a:r>
              <a:rPr spc="-810" dirty="0">
                <a:sym typeface="+mn-ea"/>
              </a:rPr>
              <a:t> </a:t>
            </a:r>
            <a:r>
              <a:rPr spc="-830" dirty="0">
                <a:sym typeface="+mn-ea"/>
              </a:rPr>
              <a:t>UI</a:t>
            </a:r>
            <a:r>
              <a:rPr spc="-810" dirty="0">
                <a:sym typeface="+mn-ea"/>
              </a:rPr>
              <a:t> </a:t>
            </a:r>
            <a:r>
              <a:rPr spc="-875" dirty="0">
                <a:sym typeface="+mn-ea"/>
              </a:rPr>
              <a:t>Integration</a:t>
            </a:r>
            <a:endParaRPr spc="-940" dirty="0"/>
          </a:p>
        </p:txBody>
      </p:sp>
      <p:sp>
        <p:nvSpPr>
          <p:cNvPr id="7" name="object 7"/>
          <p:cNvSpPr txBox="1"/>
          <p:nvPr/>
        </p:nvSpPr>
        <p:spPr>
          <a:xfrm>
            <a:off x="654050" y="2524760"/>
            <a:ext cx="9102725" cy="6305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Key</a:t>
            </a:r>
            <a:r>
              <a:rPr sz="3600" b="1" spc="-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9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aspects</a:t>
            </a:r>
            <a:r>
              <a:rPr sz="3600" b="1" spc="-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9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of</a:t>
            </a:r>
            <a:r>
              <a:rPr sz="36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user</a:t>
            </a:r>
            <a:r>
              <a:rPr sz="3600" b="1" spc="-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interaction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 descr="Dec 8, 2025 at 08_29_33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009900"/>
            <a:ext cx="6870700" cy="527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50" y="1264920"/>
            <a:ext cx="16210915" cy="197548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Milestone</a:t>
            </a:r>
            <a:r>
              <a:rPr spc="-810" dirty="0"/>
              <a:t> </a:t>
            </a:r>
            <a:r>
              <a:rPr spc="-1170" dirty="0"/>
              <a:t>3</a:t>
            </a:r>
            <a:r>
              <a:rPr spc="-810" dirty="0"/>
              <a:t> </a:t>
            </a:r>
            <a:r>
              <a:rPr lang="en-US" spc="-810" dirty="0"/>
              <a:t>: </a:t>
            </a:r>
            <a:r>
              <a:rPr spc="-830" dirty="0"/>
              <a:t>UI</a:t>
            </a:r>
            <a:r>
              <a:rPr spc="-810" dirty="0"/>
              <a:t> </a:t>
            </a:r>
            <a:r>
              <a:rPr spc="-875" dirty="0"/>
              <a:t>Integration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 descr="Screenshot 2025-12-08 at 17.27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" y="2639060"/>
            <a:ext cx="15519400" cy="6784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3339465"/>
            <a:ext cx="4727575" cy="4324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Edit</a:t>
            </a:r>
            <a:r>
              <a:rPr sz="28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b="1" spc="-13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Training</a:t>
            </a:r>
            <a:r>
              <a:rPr sz="28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b="1" spc="-4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Data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50" y="3870325"/>
            <a:ext cx="8255635" cy="148844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Admin panel allows easy training data updates.</a:t>
            </a:r>
          </a:p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Supports continuous chatbot improvement.</a:t>
            </a:r>
          </a:p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Enhances understanding and responsiveness.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0885" y="5471160"/>
            <a:ext cx="10330180" cy="59118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View</a:t>
            </a:r>
            <a:r>
              <a:rPr sz="28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b="1" spc="-1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User</a:t>
            </a:r>
            <a:r>
              <a:rPr sz="28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b="1" spc="-10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Queries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75" y="6108065"/>
            <a:ext cx="9627870" cy="144526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 dirty="0">
                <a:latin typeface="Trebuchet MS" panose="020B0603020202020204"/>
                <a:cs typeface="Trebuchet MS" panose="020B0603020202020204"/>
              </a:rPr>
              <a:t>Admins can monitor user queries for insights.</a:t>
            </a:r>
          </a:p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 dirty="0">
                <a:latin typeface="Trebuchet MS" panose="020B0603020202020204"/>
                <a:cs typeface="Trebuchet MS" panose="020B0603020202020204"/>
              </a:rPr>
              <a:t>Supports data-driven decision-making.</a:t>
            </a:r>
          </a:p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 dirty="0">
                <a:latin typeface="Trebuchet MS" panose="020B0603020202020204"/>
                <a:cs typeface="Trebuchet MS" panose="020B0603020202020204"/>
              </a:rPr>
              <a:t>Improves </a:t>
            </a:r>
            <a:r>
              <a:rPr lang="en-US" altLang="en-US" sz="2800" dirty="0" err="1">
                <a:latin typeface="Trebuchet MS" panose="020B0603020202020204"/>
                <a:cs typeface="Trebuchet MS" panose="020B0603020202020204"/>
              </a:rPr>
              <a:t>chatbot</a:t>
            </a:r>
            <a:r>
              <a:rPr lang="en-US" altLang="en-US" sz="2800" dirty="0">
                <a:latin typeface="Trebuchet MS" panose="020B0603020202020204"/>
                <a:cs typeface="Trebuchet MS" panose="020B0603020202020204"/>
              </a:rPr>
              <a:t> effectiveness and user satisfaction.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0260" y="7769860"/>
            <a:ext cx="15711805" cy="6483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3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Trigger</a:t>
            </a:r>
            <a:r>
              <a:rPr sz="2800" b="1" spc="-7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Model</a:t>
            </a:r>
            <a:r>
              <a:rPr sz="28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800" b="1" spc="-10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Retraining</a:t>
            </a:r>
            <a:endParaRPr sz="28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775" y="8321675"/>
            <a:ext cx="15450185" cy="207137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Panel allows triggering model retraining.</a:t>
            </a:r>
          </a:p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Keeps chatbot updated with evolving user intents.</a:t>
            </a:r>
          </a:p>
          <a:p>
            <a:pPr marL="469900" marR="5080" indent="-457200">
              <a:lnSpc>
                <a:spcPct val="100000"/>
              </a:lnSpc>
              <a:spcBef>
                <a:spcPts val="130"/>
              </a:spcBef>
              <a:buFont typeface="Wingdings" panose="05000000000000000000" charset="0"/>
              <a:buChar char=""/>
            </a:pPr>
            <a:r>
              <a:rPr lang="en-US" altLang="en-US" sz="2800">
                <a:latin typeface="Trebuchet MS" panose="020B0603020202020204"/>
                <a:cs typeface="Trebuchet MS" panose="020B0603020202020204"/>
              </a:rPr>
              <a:t>Improves response accuracy and relevance.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4050" y="1151255"/>
            <a:ext cx="15789910" cy="13315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0" dirty="0">
                <a:sym typeface="+mn-ea"/>
              </a:rPr>
              <a:t>Milestone</a:t>
            </a:r>
            <a:r>
              <a:rPr spc="-805" dirty="0">
                <a:sym typeface="+mn-ea"/>
              </a:rPr>
              <a:t> </a:t>
            </a:r>
            <a:r>
              <a:rPr spc="-1170" dirty="0">
                <a:sym typeface="+mn-ea"/>
              </a:rPr>
              <a:t>4</a:t>
            </a:r>
            <a:r>
              <a:rPr spc="-805" dirty="0">
                <a:sym typeface="+mn-ea"/>
              </a:rPr>
              <a:t> </a:t>
            </a:r>
            <a:r>
              <a:rPr lang="en-US" spc="-805" dirty="0">
                <a:sym typeface="+mn-ea"/>
              </a:rPr>
              <a:t>:</a:t>
            </a:r>
            <a:r>
              <a:rPr spc="-805" dirty="0">
                <a:sym typeface="+mn-ea"/>
              </a:rPr>
              <a:t> </a:t>
            </a:r>
            <a:r>
              <a:rPr spc="-975" dirty="0">
                <a:sym typeface="+mn-ea"/>
              </a:rPr>
              <a:t>Admin</a:t>
            </a:r>
            <a:r>
              <a:rPr spc="-805" dirty="0">
                <a:sym typeface="+mn-ea"/>
              </a:rPr>
              <a:t> </a:t>
            </a:r>
            <a:r>
              <a:rPr spc="-869" dirty="0">
                <a:sym typeface="+mn-ea"/>
              </a:rPr>
              <a:t>Panel</a:t>
            </a:r>
            <a:endParaRPr spc="-700" dirty="0"/>
          </a:p>
        </p:txBody>
      </p:sp>
      <p:sp>
        <p:nvSpPr>
          <p:cNvPr id="9" name="object 9"/>
          <p:cNvSpPr txBox="1"/>
          <p:nvPr/>
        </p:nvSpPr>
        <p:spPr>
          <a:xfrm>
            <a:off x="654050" y="2632710"/>
            <a:ext cx="8648700" cy="7023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Essential</a:t>
            </a:r>
            <a:r>
              <a:rPr sz="36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4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tools</a:t>
            </a:r>
            <a:r>
              <a:rPr sz="3600" b="1" spc="-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4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36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1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chatbot</a:t>
            </a:r>
            <a:r>
              <a:rPr sz="3600" b="1" spc="-6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600" b="1" spc="-10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management</a:t>
            </a:r>
            <a:endParaRPr sz="36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ChatGPT Image Dec 8, 2025 at 08_32_27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85" y="2958465"/>
            <a:ext cx="6944360" cy="55187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50" y="1323975"/>
            <a:ext cx="16017875" cy="13798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0" dirty="0"/>
              <a:t>Milestone</a:t>
            </a:r>
            <a:r>
              <a:rPr spc="-805" dirty="0"/>
              <a:t> </a:t>
            </a:r>
            <a:r>
              <a:rPr spc="-1170" dirty="0"/>
              <a:t>4</a:t>
            </a:r>
            <a:r>
              <a:rPr spc="-805" dirty="0"/>
              <a:t> </a:t>
            </a:r>
            <a:r>
              <a:rPr lang="en-US" spc="-805" dirty="0"/>
              <a:t>: </a:t>
            </a:r>
            <a:r>
              <a:rPr spc="-975" dirty="0"/>
              <a:t>Admin</a:t>
            </a:r>
            <a:r>
              <a:rPr spc="-805" dirty="0"/>
              <a:t> </a:t>
            </a:r>
            <a:r>
              <a:rPr spc="-869" dirty="0"/>
              <a:t>Panel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Screenshot 2025-12-08 at 17.29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960370"/>
            <a:ext cx="16186150" cy="6310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4275" y="1529080"/>
            <a:ext cx="13836650" cy="1894840"/>
          </a:xfrm>
          <a:prstGeom prst="rect">
            <a:avLst/>
          </a:prstGeom>
        </p:spPr>
        <p:txBody>
          <a:bodyPr vert="horz" wrap="square" lIns="0" tIns="256540" rIns="0" bIns="0" rtlCol="0">
            <a:noAutofit/>
          </a:bodyPr>
          <a:lstStyle/>
          <a:p>
            <a:pPr marL="12700" marR="5080">
              <a:lnSpc>
                <a:spcPts val="9600"/>
              </a:lnSpc>
              <a:spcBef>
                <a:spcPts val="2020"/>
              </a:spcBef>
            </a:pPr>
            <a:r>
              <a:rPr sz="7200" spc="-885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Essential </a:t>
            </a:r>
            <a:r>
              <a:rPr sz="7200" spc="-134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T</a:t>
            </a:r>
            <a:r>
              <a:rPr sz="7200" spc="-955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ec</a:t>
            </a:r>
            <a:r>
              <a:rPr sz="7200" spc="-944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hn</a:t>
            </a:r>
            <a:r>
              <a:rPr sz="7200" spc="-96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o</a:t>
            </a:r>
            <a:r>
              <a:rPr sz="7200" spc="-955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l</a:t>
            </a:r>
            <a:r>
              <a:rPr sz="7200" spc="-96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o</a:t>
            </a:r>
            <a:r>
              <a:rPr sz="7200" spc="-955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g</a:t>
            </a:r>
            <a:r>
              <a:rPr sz="7200" spc="-95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i</a:t>
            </a:r>
            <a:r>
              <a:rPr sz="7200" spc="-955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e</a:t>
            </a:r>
            <a:r>
              <a:rPr sz="7200" spc="-72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s</a:t>
            </a:r>
            <a:r>
              <a:rPr sz="7200" spc="-815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 </a:t>
            </a:r>
            <a:r>
              <a:rPr sz="7200" spc="-75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for </a:t>
            </a:r>
            <a:r>
              <a:rPr sz="7200" spc="-96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Chatbot </a:t>
            </a:r>
            <a:r>
              <a:rPr sz="7200" spc="-990" dirty="0">
                <a:solidFill>
                  <a:srgbClr val="092540"/>
                </a:solidFill>
                <a:latin typeface="Thonburi" panose="00000400000000000000" charset="0"/>
                <a:cs typeface="Thonburi" panose="00000400000000000000" charset="0"/>
              </a:rPr>
              <a:t>Development</a:t>
            </a:r>
            <a:endParaRPr sz="7200" dirty="0">
              <a:latin typeface="Thonburi" panose="00000400000000000000" charset="0"/>
              <a:cs typeface="Thonburi" panose="00000400000000000000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5360" y="1960880"/>
            <a:ext cx="3818890" cy="19380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39800" y="4381210"/>
            <a:ext cx="4006911" cy="2191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16000" y="6972018"/>
            <a:ext cx="4008625" cy="21649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xfrm>
            <a:off x="1148715" y="5253355"/>
            <a:ext cx="11955780" cy="3549650"/>
          </a:xfrm>
          <a:prstGeom prst="rect">
            <a:avLst/>
          </a:prstGeom>
        </p:spPr>
        <p:txBody>
          <a:bodyPr vert="horz" wrap="square" lIns="0" tIns="31115" rIns="0" bIns="0" rtlCol="0">
            <a:noAutofit/>
          </a:bodyPr>
          <a:lstStyle/>
          <a:p>
            <a:pPr marL="469900" marR="177165" indent="-457200">
              <a:lnSpc>
                <a:spcPts val="2780"/>
              </a:lnSpc>
              <a:spcBef>
                <a:spcPts val="245"/>
              </a:spcBef>
              <a:buFont typeface="Wingdings" panose="05000000000000000000" charset="0"/>
              <a:buChar char=""/>
            </a:pPr>
            <a:r>
              <a:rPr sz="2800" spc="-30" dirty="0">
                <a:solidFill>
                  <a:schemeClr val="tx1"/>
                </a:solidFill>
              </a:rPr>
              <a:t>Natural</a:t>
            </a:r>
            <a:r>
              <a:rPr sz="2800" spc="-14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Language </a:t>
            </a:r>
            <a:r>
              <a:rPr sz="2800" spc="-35" dirty="0">
                <a:solidFill>
                  <a:schemeClr val="tx1"/>
                </a:solidFill>
              </a:rPr>
              <a:t>Understanding</a:t>
            </a:r>
            <a:r>
              <a:rPr sz="2800" spc="-100" dirty="0">
                <a:solidFill>
                  <a:schemeClr val="tx1"/>
                </a:solidFill>
              </a:rPr>
              <a:t> </a:t>
            </a:r>
            <a:r>
              <a:rPr sz="2800" spc="-25" dirty="0">
                <a:solidFill>
                  <a:schemeClr val="tx1"/>
                </a:solidFill>
              </a:rPr>
              <a:t>tools</a:t>
            </a:r>
            <a:r>
              <a:rPr sz="2800" spc="-100" dirty="0">
                <a:solidFill>
                  <a:schemeClr val="tx1"/>
                </a:solidFill>
              </a:rPr>
              <a:t> </a:t>
            </a:r>
            <a:r>
              <a:rPr sz="2800" spc="-35" dirty="0">
                <a:solidFill>
                  <a:schemeClr val="tx1"/>
                </a:solidFill>
              </a:rPr>
              <a:t>enable </a:t>
            </a:r>
            <a:r>
              <a:rPr sz="2800" spc="-95" dirty="0">
                <a:solidFill>
                  <a:schemeClr val="tx1"/>
                </a:solidFill>
              </a:rPr>
              <a:t>intent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recognition.</a:t>
            </a: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r>
              <a:rPr sz="3200" b="1" spc="-17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Backend</a:t>
            </a:r>
            <a:r>
              <a:rPr sz="3200" b="1" spc="-5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2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Frameworks</a:t>
            </a:r>
            <a:endParaRPr sz="32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800">
              <a:latin typeface="Arial" panose="020B0604020202090204"/>
              <a:cs typeface="Arial" panose="020B0604020202090204"/>
            </a:endParaRPr>
          </a:p>
          <a:p>
            <a:pPr marL="469900" marR="118745" indent="-457200">
              <a:lnSpc>
                <a:spcPts val="2780"/>
              </a:lnSpc>
              <a:buFont typeface="Wingdings" panose="05000000000000000000" charset="0"/>
              <a:buChar char=""/>
            </a:pPr>
            <a:r>
              <a:rPr sz="2800" dirty="0">
                <a:solidFill>
                  <a:schemeClr val="tx1"/>
                </a:solidFill>
              </a:rPr>
              <a:t>Robust</a:t>
            </a:r>
            <a:r>
              <a:rPr sz="2800" spc="-135" dirty="0">
                <a:solidFill>
                  <a:schemeClr val="tx1"/>
                </a:solidFill>
              </a:rPr>
              <a:t> </a:t>
            </a:r>
            <a:r>
              <a:rPr sz="2800" spc="-30" dirty="0">
                <a:solidFill>
                  <a:schemeClr val="tx1"/>
                </a:solidFill>
              </a:rPr>
              <a:t>frameworks</a:t>
            </a:r>
            <a:r>
              <a:rPr sz="2800" spc="-13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support </a:t>
            </a:r>
            <a:r>
              <a:rPr sz="2800" spc="-85" dirty="0">
                <a:solidFill>
                  <a:schemeClr val="tx1"/>
                </a:solidFill>
              </a:rPr>
              <a:t>the</a:t>
            </a:r>
            <a:r>
              <a:rPr sz="2800" spc="-9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chatbot's</a:t>
            </a:r>
            <a:r>
              <a:rPr sz="2800" spc="-14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backend functionality.</a:t>
            </a: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r>
              <a:rPr sz="3200" b="1" spc="-10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Frontend</a:t>
            </a:r>
            <a:r>
              <a:rPr sz="3200" b="1" spc="-6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2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Frameworks</a:t>
            </a:r>
            <a:endParaRPr sz="32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800">
              <a:latin typeface="Arial" panose="020B0604020202090204"/>
              <a:cs typeface="Arial" panose="020B0604020202090204"/>
            </a:endParaRPr>
          </a:p>
          <a:p>
            <a:pPr marL="469900" marR="5080" indent="-457200">
              <a:lnSpc>
                <a:spcPts val="2780"/>
              </a:lnSpc>
              <a:buFont typeface="Wingdings" panose="05000000000000000000" charset="0"/>
              <a:buChar char=""/>
            </a:pPr>
            <a:r>
              <a:rPr sz="2800" spc="-10" dirty="0">
                <a:solidFill>
                  <a:schemeClr val="tx1"/>
                </a:solidFill>
              </a:rPr>
              <a:t>Frontend</a:t>
            </a:r>
            <a:r>
              <a:rPr sz="2800" spc="-120" dirty="0">
                <a:solidFill>
                  <a:schemeClr val="tx1"/>
                </a:solidFill>
              </a:rPr>
              <a:t> </a:t>
            </a:r>
            <a:r>
              <a:rPr sz="2800" spc="-30" dirty="0">
                <a:solidFill>
                  <a:schemeClr val="tx1"/>
                </a:solidFill>
              </a:rPr>
              <a:t>frameworks</a:t>
            </a:r>
            <a:r>
              <a:rPr sz="2800" spc="-120" dirty="0">
                <a:solidFill>
                  <a:schemeClr val="tx1"/>
                </a:solidFill>
              </a:rPr>
              <a:t> </a:t>
            </a:r>
            <a:r>
              <a:rPr sz="2800" spc="-50" dirty="0">
                <a:solidFill>
                  <a:schemeClr val="tx1"/>
                </a:solidFill>
              </a:rPr>
              <a:t>create </a:t>
            </a:r>
            <a:r>
              <a:rPr sz="2800" spc="-95" dirty="0">
                <a:solidFill>
                  <a:schemeClr val="tx1"/>
                </a:solidFill>
              </a:rPr>
              <a:t>interactive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user</a:t>
            </a:r>
            <a:r>
              <a:rPr sz="2800" spc="-65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experiences effectively.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85545" y="4314190"/>
            <a:ext cx="4913630" cy="86233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75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NLU</a:t>
            </a:r>
            <a:r>
              <a:rPr sz="3200" b="1" spc="-7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3200" b="1" spc="-200" dirty="0">
                <a:solidFill>
                  <a:srgbClr val="1D8FFF"/>
                </a:solidFill>
                <a:latin typeface="Arial" panose="020B0604020202090204"/>
                <a:cs typeface="Arial" panose="020B0604020202090204"/>
              </a:rPr>
              <a:t>Tools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0925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8125" y="0"/>
              <a:ext cx="10429874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76274"/>
              <a:ext cx="7858125" cy="0"/>
            </a:xfrm>
            <a:custGeom>
              <a:avLst/>
              <a:gdLst/>
              <a:ahLst/>
              <a:cxnLst/>
              <a:rect l="l" t="t" r="r" b="b"/>
              <a:pathLst>
                <a:path w="7858125">
                  <a:moveTo>
                    <a:pt x="0" y="0"/>
                  </a:moveTo>
                  <a:lnTo>
                    <a:pt x="7858124" y="0"/>
                  </a:lnTo>
                </a:path>
              </a:pathLst>
            </a:custGeom>
            <a:ln w="19049">
              <a:solidFill>
                <a:srgbClr val="0925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29774"/>
              <a:ext cx="7858125" cy="0"/>
            </a:xfrm>
            <a:custGeom>
              <a:avLst/>
              <a:gdLst/>
              <a:ahLst/>
              <a:cxnLst/>
              <a:rect l="l" t="t" r="r" b="b"/>
              <a:pathLst>
                <a:path w="7858125">
                  <a:moveTo>
                    <a:pt x="0" y="0"/>
                  </a:moveTo>
                  <a:lnTo>
                    <a:pt x="7858124" y="0"/>
                  </a:lnTo>
                </a:path>
              </a:pathLst>
            </a:custGeom>
            <a:ln w="19049">
              <a:solidFill>
                <a:srgbClr val="0925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7105" y="4801870"/>
            <a:ext cx="8895715" cy="13646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60" dirty="0"/>
              <a:t>Thank</a:t>
            </a:r>
            <a:r>
              <a:rPr spc="-800" dirty="0"/>
              <a:t> </a:t>
            </a:r>
            <a:r>
              <a:rPr spc="-1525" dirty="0"/>
              <a:t>Y</a:t>
            </a:r>
            <a:r>
              <a:rPr spc="-1055" dirty="0"/>
              <a:t>o</a:t>
            </a:r>
            <a:r>
              <a:rPr spc="-815" dirty="0"/>
              <a:t>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4050" y="7588250"/>
            <a:ext cx="5911850" cy="6203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F6F6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366</Words>
  <Application>Microsoft Office PowerPoint</Application>
  <PresentationFormat>Custom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Thonburi</vt:lpstr>
      <vt:lpstr>Trebuchet MS</vt:lpstr>
      <vt:lpstr>Wingdings</vt:lpstr>
      <vt:lpstr>Office Theme</vt:lpstr>
      <vt:lpstr>PowerPoint Presentation</vt:lpstr>
      <vt:lpstr>Introduction</vt:lpstr>
      <vt:lpstr>Milestone 1: Intent Recognition</vt:lpstr>
      <vt:lpstr>Milestone 1: Intent Recognition</vt:lpstr>
      <vt:lpstr>Milestone 2 : Dialogue Flow</vt:lpstr>
      <vt:lpstr>Milestone 2 : Dialogue Flow</vt:lpstr>
      <vt:lpstr>Milestone 3 : UI Integration</vt:lpstr>
      <vt:lpstr>Milestone 3 : UI Integration</vt:lpstr>
      <vt:lpstr>Milestone 4 : Admin Panel</vt:lpstr>
      <vt:lpstr>Milestone 4 : Admin Panel</vt:lpstr>
      <vt:lpstr>NLU Tools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Chatbot Development</dc:title>
  <dc:creator>T Subhashree</dc:creator>
  <cp:keywords>DAG66qeiBRk,BAGiG7SCmqQ,0</cp:keywords>
  <cp:lastModifiedBy>Kadali Sai</cp:lastModifiedBy>
  <cp:revision>7</cp:revision>
  <dcterms:created xsi:type="dcterms:W3CDTF">2025-12-08T15:10:11Z</dcterms:created>
  <dcterms:modified xsi:type="dcterms:W3CDTF">2025-12-16T03:51:17Z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2025-12-08T11:00:00Z</vt:filetime>
  </property>
  <property fmtid="{D5CDD505-2E9C-101B-9397-08002B2CF9AE}" pid="3" name="Creator">
    <vt:lpwstr>Canva</vt:lpwstr>
  </property>
  <property fmtid="{D5CDD505-2E9C-101B-9397-08002B2CF9AE}" pid="4" name="LastSaved">
    <vt:filetime>2025-12-08T11:00:00Z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  <property fmtid="{D5CDD505-2E9C-101B-9397-08002B2CF9AE}" pid="7" name="ICV">
    <vt:lpwstr>4DCE55CC2F5F598791C136694A5AABA1_43</vt:lpwstr>
  </property>
  <property fmtid="{D5CDD505-2E9C-101B-9397-08002B2CF9AE}" pid="8" name="KSOProductBuildVer">
    <vt:lpwstr>1033-12.1.23152.23152</vt:lpwstr>
  </property>
</Properties>
</file>